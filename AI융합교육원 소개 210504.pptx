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3"/>
  </p:notesMasterIdLst>
  <p:handoutMasterIdLst>
    <p:handoutMasterId r:id="rId14"/>
  </p:handoutMasterIdLst>
  <p:sldIdLst>
    <p:sldId id="332" r:id="rId2"/>
    <p:sldId id="380" r:id="rId3"/>
    <p:sldId id="381" r:id="rId4"/>
    <p:sldId id="382" r:id="rId5"/>
    <p:sldId id="383" r:id="rId6"/>
    <p:sldId id="386" r:id="rId7"/>
    <p:sldId id="389" r:id="rId8"/>
    <p:sldId id="384" r:id="rId9"/>
    <p:sldId id="387" r:id="rId10"/>
    <p:sldId id="385" r:id="rId11"/>
    <p:sldId id="339" r:id="rId12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1" clrIdx="0">
    <p:extLst>
      <p:ext uri="{19B8F6BF-5375-455C-9EA6-DF929625EA0E}">
        <p15:presenceInfo xmlns:p15="http://schemas.microsoft.com/office/powerpoint/2012/main" userId="Windows 사용자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00FF"/>
    <a:srgbClr val="DBDCDD"/>
    <a:srgbClr val="F3F3F4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39" autoAdjust="0"/>
    <p:restoredTop sz="94660"/>
  </p:normalViewPr>
  <p:slideViewPr>
    <p:cSldViewPr>
      <p:cViewPr varScale="1">
        <p:scale>
          <a:sx n="94" d="100"/>
          <a:sy n="94" d="100"/>
        </p:scale>
        <p:origin x="78" y="234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763" y="0"/>
            <a:ext cx="2918831" cy="49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54BC9-0C98-4222-AB4F-F6AC3272EACC}" type="datetimeFigureOut">
              <a:rPr lang="ko-KR" altLang="en-US" smtClean="0"/>
              <a:t>42/4/21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0715"/>
            <a:ext cx="2918831" cy="4955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763" y="9370715"/>
            <a:ext cx="2918831" cy="4955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1872F-DC67-4CD2-A2A4-3AFA85B80D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0040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76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330AB-55DD-4A36-9A1A-441C4B356EED}" type="datetimeFigureOut">
              <a:rPr lang="ko-KR" altLang="en-US" smtClean="0"/>
              <a:t>42/4/21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0714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763" y="9370714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3A8AD-14E1-43F1-A0D0-AD5B35F7D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81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A8AD-14E1-43F1-A0D0-AD5B35F7DD9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709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A8AD-14E1-43F1-A0D0-AD5B35F7DD9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486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A8AD-14E1-43F1-A0D0-AD5B35F7DD9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270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A8AD-14E1-43F1-A0D0-AD5B35F7DD9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02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A8AD-14E1-43F1-A0D0-AD5B35F7DD9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762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행동 패턴을 분석해 최적의 시간에 적절한 횟수의 이메일을 발송할 수 있게 하거나 이미지 인식 기능을 통해 마케팅에 활용할 이미지 태그를 자동으로 삽입할 수 있도록 하는 것이다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A8AD-14E1-43F1-A0D0-AD5B35F7DD9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763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A8AD-14E1-43F1-A0D0-AD5B35F7DD9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183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A8AD-14E1-43F1-A0D0-AD5B35F7DD9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089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A8AD-14E1-43F1-A0D0-AD5B35F7DD9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161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A8AD-14E1-43F1-A0D0-AD5B35F7DD9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421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/>
          <p:nvPr/>
        </p:nvSpPr>
        <p:spPr>
          <a:xfrm>
            <a:off x="0" y="6284116"/>
            <a:ext cx="12192000" cy="57388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6"/>
          <p:cNvSpPr/>
          <p:nvPr/>
        </p:nvSpPr>
        <p:spPr>
          <a:xfrm>
            <a:off x="0" y="0"/>
            <a:ext cx="12192000" cy="57388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3038" spc="-2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951562"/>
            <a:ext cx="10058400" cy="647058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1013" cap="all" spc="85" baseline="0">
                <a:solidFill>
                  <a:schemeClr val="tx2"/>
                </a:solidFill>
                <a:latin typeface="+mj-lt"/>
              </a:defRPr>
            </a:lvl1pPr>
            <a:lvl2pPr marL="192881" indent="0" algn="ctr">
              <a:buNone/>
              <a:defRPr sz="1013"/>
            </a:lvl2pPr>
            <a:lvl3pPr marL="385763" indent="0" algn="ctr">
              <a:buNone/>
              <a:defRPr sz="1013"/>
            </a:lvl3pPr>
            <a:lvl4pPr marL="578644" indent="0" algn="ctr">
              <a:buNone/>
              <a:defRPr sz="844"/>
            </a:lvl4pPr>
            <a:lvl5pPr marL="771525" indent="0" algn="ctr">
              <a:buNone/>
              <a:defRPr sz="844"/>
            </a:lvl5pPr>
            <a:lvl6pPr marL="964406" indent="0" algn="ctr">
              <a:buNone/>
              <a:defRPr sz="844"/>
            </a:lvl6pPr>
            <a:lvl7pPr marL="1157288" indent="0" algn="ctr">
              <a:buNone/>
              <a:defRPr sz="844"/>
            </a:lvl7pPr>
            <a:lvl8pPr marL="1350169" indent="0" algn="ctr">
              <a:buNone/>
              <a:defRPr sz="844"/>
            </a:lvl8pPr>
            <a:lvl9pPr marL="1543050" indent="0" algn="ctr">
              <a:buNone/>
              <a:defRPr sz="844"/>
            </a:lvl9pPr>
          </a:lstStyle>
          <a:p>
            <a:r>
              <a:rPr lang="ko-KR" altLang="en-US" dirty="0"/>
              <a:t>마스터 부제목 스타일 </a:t>
            </a:r>
            <a:r>
              <a:rPr lang="en-US" altLang="ko-KR" dirty="0"/>
              <a:t>a</a:t>
            </a:r>
            <a:r>
              <a:rPr lang="ko-KR" altLang="en-US" dirty="0"/>
              <a:t>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710"/>
              </a:lnSpc>
            </a:pPr>
            <a:fld id="{81D60167-4931-47E6-BA6A-407CBD079E47}" type="slidenum">
              <a:rPr lang="en-US" altLang="ko-KR" spc="-5" smtClean="0"/>
              <a:pPr marL="25400">
                <a:lnSpc>
                  <a:spcPts val="1710"/>
                </a:lnSpc>
              </a:pPr>
              <a:t>‹#›</a:t>
            </a:fld>
            <a:endParaRPr lang="en-US" altLang="ko-KR" spc="-5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52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17" y="0"/>
            <a:ext cx="11971739" cy="584042"/>
          </a:xfrm>
        </p:spPr>
        <p:txBody>
          <a:bodyPr/>
          <a:lstStyle>
            <a:lvl1pPr marL="0">
              <a:defRPr sz="1800" b="1">
                <a:latin typeface="Arial Black" panose="020B0A040201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50"/>
            </a:lvl2pPr>
            <a:lvl3pPr marL="481013" indent="-214313">
              <a:buFont typeface="Arial Unicode MS" panose="020B0604020202020204" pitchFamily="50" charset="-127"/>
              <a:buChar char="-"/>
              <a:defRPr sz="1500"/>
            </a:lvl3pPr>
            <a:lvl4pPr marL="676275" indent="-213122">
              <a:buFont typeface="Arial" panose="020B0604020202020204" pitchFamily="34" charset="0"/>
              <a:buChar char="•"/>
              <a:defRPr sz="1500"/>
            </a:lvl4pPr>
            <a:lvl5pPr>
              <a:defRPr sz="1125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710"/>
              </a:lnSpc>
            </a:pPr>
            <a:fld id="{81D60167-4931-47E6-BA6A-407CBD079E47}" type="slidenum">
              <a:rPr lang="en-US" altLang="ko-KR" spc="-5" smtClean="0"/>
              <a:pPr marL="25400">
                <a:lnSpc>
                  <a:spcPts val="1710"/>
                </a:lnSpc>
              </a:pPr>
              <a:t>‹#›</a:t>
            </a:fld>
            <a:endParaRPr lang="en-US" altLang="ko-KR" spc="-5" dirty="0"/>
          </a:p>
        </p:txBody>
      </p:sp>
      <p:pic>
        <p:nvPicPr>
          <p:cNvPr id="7" name="Picture 8" descr="한동대학교 logo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589" y="6434418"/>
            <a:ext cx="1381412" cy="42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15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6045" y="776383"/>
            <a:ext cx="5758995" cy="50927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8876" y="776377"/>
            <a:ext cx="5984581" cy="509271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710"/>
              </a:lnSpc>
            </a:pPr>
            <a:fld id="{81D60167-4931-47E6-BA6A-407CBD079E47}" type="slidenum">
              <a:rPr lang="en-US" altLang="ko-KR" spc="-5" smtClean="0"/>
              <a:pPr marL="25400">
                <a:lnSpc>
                  <a:spcPts val="1710"/>
                </a:lnSpc>
              </a:pPr>
              <a:t>‹#›</a:t>
            </a:fld>
            <a:endParaRPr lang="en-US" altLang="ko-KR" spc="-5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1717" y="0"/>
            <a:ext cx="11971739" cy="58404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43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710"/>
              </a:lnSpc>
            </a:pPr>
            <a:fld id="{81D60167-4931-47E6-BA6A-407CBD079E47}" type="slidenum">
              <a:rPr lang="en-US" altLang="ko-KR" spc="-5" smtClean="0"/>
              <a:pPr marL="25400">
                <a:lnSpc>
                  <a:spcPts val="1710"/>
                </a:lnSpc>
              </a:pPr>
              <a:t>‹#›</a:t>
            </a:fld>
            <a:endParaRPr lang="en-US" altLang="ko-KR" spc="-5" dirty="0"/>
          </a:p>
        </p:txBody>
      </p:sp>
    </p:spTree>
    <p:extLst>
      <p:ext uri="{BB962C8B-B14F-4D97-AF65-F5344CB8AC3E}">
        <p14:creationId xmlns:p14="http://schemas.microsoft.com/office/powerpoint/2010/main" val="2277016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710"/>
              </a:lnSpc>
            </a:pPr>
            <a:fld id="{81D60167-4931-47E6-BA6A-407CBD079E47}" type="slidenum">
              <a:rPr lang="en-US" altLang="ko-KR" spc="-5" smtClean="0"/>
              <a:pPr marL="25400">
                <a:lnSpc>
                  <a:spcPts val="1710"/>
                </a:lnSpc>
              </a:pPr>
              <a:t>‹#›</a:t>
            </a:fld>
            <a:endParaRPr lang="en-US" altLang="ko-KR" spc="-5" dirty="0"/>
          </a:p>
        </p:txBody>
      </p:sp>
    </p:spTree>
    <p:extLst>
      <p:ext uri="{BB962C8B-B14F-4D97-AF65-F5344CB8AC3E}">
        <p14:creationId xmlns:p14="http://schemas.microsoft.com/office/powerpoint/2010/main" val="13564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/>
          <p:nvPr/>
        </p:nvSpPr>
        <p:spPr>
          <a:xfrm>
            <a:off x="1587" y="0"/>
            <a:ext cx="12192000" cy="57388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" y="6354600"/>
            <a:ext cx="12192001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5245" y="224572"/>
            <a:ext cx="11971739" cy="3568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245" y="640410"/>
            <a:ext cx="11971739" cy="570665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 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5" y="6459791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7" y="6459791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2" y="6459791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3">
                <a:solidFill>
                  <a:srgbClr val="FFFFFF"/>
                </a:solidFill>
              </a:defRPr>
            </a:lvl1pPr>
          </a:lstStyle>
          <a:p>
            <a:pPr marL="25400">
              <a:lnSpc>
                <a:spcPts val="1710"/>
              </a:lnSpc>
            </a:pPr>
            <a:fld id="{81D60167-4931-47E6-BA6A-407CBD079E47}" type="slidenum">
              <a:rPr lang="en-US" altLang="ko-KR" spc="-5" smtClean="0"/>
              <a:pPr marL="25400">
                <a:lnSpc>
                  <a:spcPts val="1710"/>
                </a:lnSpc>
              </a:pPr>
              <a:t>‹#›</a:t>
            </a:fld>
            <a:endParaRPr lang="en-US" altLang="ko-KR" spc="-5" dirty="0"/>
          </a:p>
        </p:txBody>
      </p:sp>
    </p:spTree>
    <p:extLst>
      <p:ext uri="{BB962C8B-B14F-4D97-AF65-F5344CB8AC3E}">
        <p14:creationId xmlns:p14="http://schemas.microsoft.com/office/powerpoint/2010/main" val="220081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 algn="l" defTabSz="385763" rtl="0" eaLnBrk="1" latinLnBrk="1" hangingPunct="1">
        <a:lnSpc>
          <a:spcPct val="85000"/>
        </a:lnSpc>
        <a:spcBef>
          <a:spcPct val="0"/>
        </a:spcBef>
        <a:buNone/>
        <a:defRPr lang="en-US" altLang="en-US" sz="1800" b="1" kern="1200" spc="-21" baseline="0" dirty="0">
          <a:solidFill>
            <a:schemeClr val="bg1">
              <a:lumMod val="95000"/>
            </a:schemeClr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38576" indent="-38576" algn="l" defTabSz="385763" rtl="0" eaLnBrk="1" latinLnBrk="1" hangingPunct="1">
        <a:lnSpc>
          <a:spcPct val="100000"/>
        </a:lnSpc>
        <a:spcBef>
          <a:spcPts val="506"/>
        </a:spcBef>
        <a:spcAft>
          <a:spcPts val="85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162020" indent="-77153" algn="l" defTabSz="385763" rtl="0" eaLnBrk="1" latinLnBrk="1" hangingPunct="1">
        <a:lnSpc>
          <a:spcPct val="100000"/>
        </a:lnSpc>
        <a:spcBef>
          <a:spcPts val="85"/>
        </a:spcBef>
        <a:spcAft>
          <a:spcPts val="169"/>
        </a:spcAft>
        <a:buClrTx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481013" indent="-214313" algn="l" defTabSz="385763" rtl="0" eaLnBrk="1" latinLnBrk="1" hangingPunct="1">
        <a:lnSpc>
          <a:spcPct val="100000"/>
        </a:lnSpc>
        <a:spcBef>
          <a:spcPts val="85"/>
        </a:spcBef>
        <a:spcAft>
          <a:spcPts val="169"/>
        </a:spcAft>
        <a:buClr>
          <a:schemeClr val="tx1"/>
        </a:buClr>
        <a:buFont typeface="Arial Unicode MS" panose="020B0604020202020204" pitchFamily="50" charset="-127"/>
        <a:buChar char="-"/>
        <a:defRPr sz="1500" kern="1200">
          <a:solidFill>
            <a:schemeClr val="tx1"/>
          </a:solidFill>
          <a:latin typeface="+mn-ea"/>
          <a:ea typeface="+mn-ea"/>
          <a:cs typeface="+mn-cs"/>
        </a:defRPr>
      </a:lvl3pPr>
      <a:lvl4pPr marL="676275" indent="-285750" algn="l" defTabSz="385763" rtl="0" eaLnBrk="1" latinLnBrk="1" hangingPunct="1">
        <a:lnSpc>
          <a:spcPct val="100000"/>
        </a:lnSpc>
        <a:spcBef>
          <a:spcPts val="85"/>
        </a:spcBef>
        <a:spcAft>
          <a:spcPts val="169"/>
        </a:spcAft>
        <a:buClr>
          <a:schemeClr val="tx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ea"/>
          <a:ea typeface="+mn-ea"/>
          <a:cs typeface="+mn-cs"/>
        </a:defRPr>
      </a:lvl4pPr>
      <a:lvl5pPr marL="393478" indent="-77153" algn="l" defTabSz="385763" rtl="0" eaLnBrk="1" latinLnBrk="1" hangingPunct="1">
        <a:lnSpc>
          <a:spcPct val="90000"/>
        </a:lnSpc>
        <a:spcBef>
          <a:spcPts val="85"/>
        </a:spcBef>
        <a:spcAft>
          <a:spcPts val="169"/>
        </a:spcAft>
        <a:buClr>
          <a:schemeClr val="accent1"/>
        </a:buClr>
        <a:buFont typeface="Calibri" pitchFamily="34" charset="0"/>
        <a:buChar char="◦"/>
        <a:defRPr sz="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464063" indent="-96441" algn="l" defTabSz="385763" rtl="0" eaLnBrk="1" latinLnBrk="1" hangingPunct="1">
        <a:lnSpc>
          <a:spcPct val="90000"/>
        </a:lnSpc>
        <a:spcBef>
          <a:spcPts val="85"/>
        </a:spcBef>
        <a:spcAft>
          <a:spcPts val="169"/>
        </a:spcAft>
        <a:buClr>
          <a:schemeClr val="accent1"/>
        </a:buClr>
        <a:buFont typeface="Calibri" pitchFamily="34" charset="0"/>
        <a:buChar char="◦"/>
        <a:defRPr sz="59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548438" indent="-96441" algn="l" defTabSz="385763" rtl="0" eaLnBrk="1" latinLnBrk="1" hangingPunct="1">
        <a:lnSpc>
          <a:spcPct val="90000"/>
        </a:lnSpc>
        <a:spcBef>
          <a:spcPts val="85"/>
        </a:spcBef>
        <a:spcAft>
          <a:spcPts val="169"/>
        </a:spcAft>
        <a:buClr>
          <a:schemeClr val="accent1"/>
        </a:buClr>
        <a:buFont typeface="Calibri" pitchFamily="34" charset="0"/>
        <a:buChar char="◦"/>
        <a:defRPr sz="59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632813" indent="-96441" algn="l" defTabSz="385763" rtl="0" eaLnBrk="1" latinLnBrk="1" hangingPunct="1">
        <a:lnSpc>
          <a:spcPct val="90000"/>
        </a:lnSpc>
        <a:spcBef>
          <a:spcPts val="85"/>
        </a:spcBef>
        <a:spcAft>
          <a:spcPts val="169"/>
        </a:spcAft>
        <a:buClr>
          <a:schemeClr val="accent1"/>
        </a:buClr>
        <a:buFont typeface="Calibri" pitchFamily="34" charset="0"/>
        <a:buChar char="◦"/>
        <a:defRPr sz="59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717188" indent="-96441" algn="l" defTabSz="385763" rtl="0" eaLnBrk="1" latinLnBrk="1" hangingPunct="1">
        <a:lnSpc>
          <a:spcPct val="90000"/>
        </a:lnSpc>
        <a:spcBef>
          <a:spcPts val="85"/>
        </a:spcBef>
        <a:spcAft>
          <a:spcPts val="169"/>
        </a:spcAft>
        <a:buClr>
          <a:schemeClr val="accent1"/>
        </a:buClr>
        <a:buFont typeface="Calibri" pitchFamily="34" charset="0"/>
        <a:buChar char="◦"/>
        <a:defRPr sz="59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19200" y="533400"/>
            <a:ext cx="10058400" cy="3566160"/>
          </a:xfrm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3600" dirty="0" smtClean="0">
                <a:latin typeface="+mj-ea"/>
              </a:rPr>
              <a:t/>
            </a:r>
            <a:br>
              <a:rPr lang="en-US" altLang="ko-KR" sz="3600" dirty="0" smtClean="0">
                <a:latin typeface="+mj-ea"/>
              </a:rPr>
            </a:br>
            <a:r>
              <a:rPr lang="en-US" altLang="ko-KR" sz="3600" dirty="0" smtClean="0">
                <a:latin typeface="+mj-ea"/>
              </a:rPr>
              <a:t/>
            </a:r>
            <a:br>
              <a:rPr lang="en-US" altLang="ko-KR" sz="3600" dirty="0" smtClean="0">
                <a:latin typeface="+mj-ea"/>
              </a:rPr>
            </a:br>
            <a:r>
              <a:rPr lang="en-US" altLang="ko-KR" sz="3600" dirty="0" smtClean="0">
                <a:latin typeface="+mj-ea"/>
              </a:rPr>
              <a:t>AI</a:t>
            </a:r>
            <a:r>
              <a:rPr lang="ko-KR" altLang="en-US" sz="3600" dirty="0" err="1" smtClean="0">
                <a:latin typeface="+mj-ea"/>
              </a:rPr>
              <a:t>융합교육원</a:t>
            </a:r>
            <a:r>
              <a:rPr lang="ko-KR" altLang="en-US" sz="3600" dirty="0" smtClean="0">
                <a:latin typeface="+mj-ea"/>
              </a:rPr>
              <a:t> </a:t>
            </a:r>
            <a:r>
              <a:rPr lang="en-US" altLang="ko-KR" sz="3600" dirty="0" smtClean="0">
                <a:latin typeface="+mj-ea"/>
              </a:rPr>
              <a:t/>
            </a:r>
            <a:br>
              <a:rPr lang="en-US" altLang="ko-KR" sz="3600" dirty="0" smtClean="0">
                <a:latin typeface="+mj-ea"/>
              </a:rPr>
            </a:br>
            <a:r>
              <a:rPr lang="en-US" altLang="ko-KR" sz="3600" dirty="0" smtClean="0">
                <a:latin typeface="+mj-ea"/>
              </a:rPr>
              <a:t/>
            </a:r>
            <a:br>
              <a:rPr lang="en-US" altLang="ko-KR" sz="3600" dirty="0" smtClean="0">
                <a:latin typeface="+mj-ea"/>
              </a:rPr>
            </a:br>
            <a:r>
              <a:rPr lang="ko-KR" altLang="en-US" sz="2400" b="0" dirty="0" smtClean="0">
                <a:latin typeface="+mj-ea"/>
              </a:rPr>
              <a:t>학부 소개</a:t>
            </a:r>
            <a:endParaRPr lang="ko-KR" altLang="en-US" sz="2800" b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61821" y="4554353"/>
            <a:ext cx="10058400" cy="647058"/>
          </a:xfrm>
        </p:spPr>
        <p:txBody>
          <a:bodyPr anchor="ctr">
            <a:noAutofit/>
          </a:bodyPr>
          <a:lstStyle/>
          <a:p>
            <a:r>
              <a:rPr lang="ko-KR" altLang="en-US" sz="2400" b="1" spc="-2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+mj-ea"/>
                <a:cs typeface="+mj-cs"/>
              </a:rPr>
              <a:t>이  상  산</a:t>
            </a:r>
            <a:endParaRPr lang="ko-KR" altLang="en-US" sz="2400" b="1" spc="-21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4" name="Picture 8" descr="한동대학교 logo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621" y="5410200"/>
            <a:ext cx="2590800" cy="79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íëì¤ê³µì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42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66801"/>
            <a:ext cx="113538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 smtClean="0"/>
              <a:t>인공지능이 발전하면</a:t>
            </a:r>
            <a:r>
              <a:rPr lang="en-US" altLang="ko-KR" sz="2400" b="1" dirty="0"/>
              <a:t> </a:t>
            </a:r>
            <a:r>
              <a:rPr lang="ko-KR" altLang="en-US" sz="2400" b="1" dirty="0" smtClean="0"/>
              <a:t>무슨 일이 생길까</a:t>
            </a:r>
            <a:r>
              <a:rPr lang="en-US" altLang="ko-KR" sz="2400" b="1" dirty="0" smtClean="0"/>
              <a:t>.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dirty="0" smtClean="0"/>
              <a:t>	</a:t>
            </a:r>
            <a:r>
              <a:rPr lang="ko-KR" altLang="en-US" sz="2400" dirty="0" smtClean="0"/>
              <a:t>생명과학은 공부할 필요가 없어진다</a:t>
            </a:r>
            <a:r>
              <a:rPr lang="en-US" altLang="ko-KR" sz="2400" dirty="0" smtClean="0"/>
              <a:t>?</a:t>
            </a:r>
          </a:p>
          <a:p>
            <a:pPr marL="0" indent="0">
              <a:buNone/>
            </a:pPr>
            <a:r>
              <a:rPr lang="en-US" altLang="ko-KR" sz="2400" dirty="0"/>
              <a:t>	</a:t>
            </a:r>
            <a:r>
              <a:rPr lang="ko-KR" altLang="en-US" sz="2400" dirty="0" smtClean="0"/>
              <a:t>컴퓨터가 사람을 대신하여 회사를 경영한다</a:t>
            </a:r>
            <a:r>
              <a:rPr lang="en-US" altLang="ko-KR" sz="2400" dirty="0" smtClean="0"/>
              <a:t>?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 smtClean="0"/>
              <a:t>	</a:t>
            </a:r>
            <a:r>
              <a:rPr lang="ko-KR" altLang="en-US" sz="2400" dirty="0" smtClean="0"/>
              <a:t>더 나아가 현재의 모든 직업은 없어진다</a:t>
            </a:r>
            <a:r>
              <a:rPr lang="en-US" altLang="ko-KR" sz="2400" dirty="0" smtClean="0"/>
              <a:t>?</a:t>
            </a:r>
          </a:p>
          <a:p>
            <a:pPr marL="0" indent="0">
              <a:buNone/>
            </a:pPr>
            <a:r>
              <a:rPr lang="en-US" altLang="ko-KR" sz="2400" dirty="0"/>
              <a:t>	</a:t>
            </a:r>
            <a:r>
              <a:rPr lang="ko-KR" altLang="en-US" sz="2400" dirty="0" smtClean="0"/>
              <a:t>그러면 내가 배우는 대학 공부는 무슨 의미가 있을까</a:t>
            </a:r>
            <a:r>
              <a:rPr lang="en-US" altLang="ko-KR" sz="2400" dirty="0" smtClean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b="1" dirty="0" smtClean="0"/>
              <a:t>나는 무엇을 준비해야 하지</a:t>
            </a:r>
            <a:r>
              <a:rPr lang="en-US" altLang="ko-KR" sz="2400" b="1" dirty="0" smtClean="0"/>
              <a:t>?</a:t>
            </a:r>
            <a:endParaRPr lang="en-US" altLang="ko-KR" sz="2000" b="1" dirty="0" smtClean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AI</a:t>
            </a:r>
            <a:r>
              <a:rPr lang="ko-KR" altLang="en-US" sz="2800" dirty="0" smtClean="0"/>
              <a:t>가 가져올 </a:t>
            </a:r>
            <a:r>
              <a:rPr lang="en-US" altLang="ko-KR" sz="2800" dirty="0" smtClean="0"/>
              <a:t>2040</a:t>
            </a:r>
            <a:r>
              <a:rPr lang="ko-KR" altLang="en-US" sz="2800" dirty="0" smtClean="0"/>
              <a:t>년의 모습은</a:t>
            </a:r>
            <a:r>
              <a:rPr lang="en-US" altLang="ko-KR" sz="2800" dirty="0" smtClean="0"/>
              <a:t>?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5397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66801"/>
            <a:ext cx="113538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 smtClean="0"/>
              <a:t>[</a:t>
            </a:r>
            <a:r>
              <a:rPr lang="ko-KR" altLang="en-US" sz="2400" dirty="0" smtClean="0"/>
              <a:t>인공지능</a:t>
            </a:r>
            <a:r>
              <a:rPr lang="en-US" altLang="ko-KR" sz="2400" dirty="0" smtClean="0"/>
              <a:t>] </a:t>
            </a:r>
            <a:r>
              <a:rPr lang="ko-KR" altLang="en-US" sz="2400" dirty="0" smtClean="0"/>
              <a:t>개별적으로 프로그램 하지 않고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컴퓨터가 스스로 학습한다</a:t>
            </a:r>
            <a:r>
              <a:rPr lang="en-US" altLang="ko-KR" sz="2400" dirty="0" smtClean="0"/>
              <a:t>.</a:t>
            </a:r>
          </a:p>
          <a:p>
            <a:pPr marL="0" indent="0">
              <a:buNone/>
            </a:pPr>
            <a:r>
              <a:rPr lang="en-US" altLang="ko-KR" sz="2400" dirty="0" smtClean="0"/>
              <a:t>[</a:t>
            </a:r>
            <a:r>
              <a:rPr lang="ko-KR" altLang="en-US" sz="2400" dirty="0" smtClean="0"/>
              <a:t>기계학습</a:t>
            </a:r>
            <a:r>
              <a:rPr lang="en-US" altLang="ko-KR" sz="2400" dirty="0" smtClean="0"/>
              <a:t>] </a:t>
            </a:r>
            <a:r>
              <a:rPr lang="ko-KR" altLang="en-US" sz="2400" dirty="0" smtClean="0"/>
              <a:t>인공지능이라고 말하고 </a:t>
            </a:r>
            <a:r>
              <a:rPr lang="ko-KR" altLang="en-US" sz="2400" dirty="0" err="1" smtClean="0"/>
              <a:t>기계학습이라고</a:t>
            </a:r>
            <a:r>
              <a:rPr lang="ko-KR" altLang="en-US" sz="2400" dirty="0" smtClean="0"/>
              <a:t> 읽는다</a:t>
            </a:r>
            <a:r>
              <a:rPr lang="en-US" altLang="ko-KR" sz="2400" dirty="0" smtClean="0"/>
              <a:t>. </a:t>
            </a:r>
            <a:r>
              <a:rPr lang="ko-KR" altLang="en-US" sz="2400" b="1" dirty="0" smtClean="0"/>
              <a:t>데이터</a:t>
            </a:r>
            <a:r>
              <a:rPr lang="ko-KR" altLang="en-US" sz="2400" dirty="0" smtClean="0"/>
              <a:t>로부터 학습한다</a:t>
            </a:r>
            <a:r>
              <a:rPr lang="en-US" altLang="ko-KR" sz="2400" dirty="0" smtClean="0"/>
              <a:t>.</a:t>
            </a:r>
          </a:p>
          <a:p>
            <a:pPr marL="0" indent="0">
              <a:buNone/>
            </a:pPr>
            <a:r>
              <a:rPr lang="en-US" altLang="ko-KR" sz="2400" dirty="0" smtClean="0"/>
              <a:t>[</a:t>
            </a:r>
            <a:r>
              <a:rPr lang="ko-KR" altLang="en-US" sz="2400" dirty="0" err="1" smtClean="0"/>
              <a:t>딥러닝</a:t>
            </a:r>
            <a:r>
              <a:rPr lang="en-US" altLang="ko-KR" sz="2400" dirty="0" smtClean="0"/>
              <a:t>] </a:t>
            </a:r>
            <a:r>
              <a:rPr lang="ko-KR" altLang="en-US" sz="2400" dirty="0" smtClean="0"/>
              <a:t>요즘 </a:t>
            </a:r>
            <a:r>
              <a:rPr lang="ko-KR" altLang="en-US" sz="2400" dirty="0" err="1" smtClean="0"/>
              <a:t>기계학습은</a:t>
            </a:r>
            <a:r>
              <a:rPr lang="ko-KR" altLang="en-US" sz="2400" dirty="0" smtClean="0"/>
              <a:t> 대부분 </a:t>
            </a:r>
            <a:r>
              <a:rPr lang="ko-KR" altLang="en-US" sz="2400" dirty="0" err="1" smtClean="0"/>
              <a:t>딥러닝이다</a:t>
            </a:r>
            <a:r>
              <a:rPr lang="en-US" altLang="ko-KR" sz="2400" dirty="0" smtClean="0"/>
              <a:t>.</a:t>
            </a:r>
            <a:endParaRPr lang="en-US" altLang="ko-KR" sz="2000" dirty="0" smtClean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인공지능</a:t>
            </a:r>
            <a:r>
              <a:rPr lang="en-US" altLang="ko-KR" sz="2800" dirty="0" smtClean="0"/>
              <a:t>(AI)</a:t>
            </a:r>
            <a:r>
              <a:rPr lang="ko-KR" altLang="en-US" sz="2800" dirty="0" smtClean="0"/>
              <a:t>는 무엇인가</a:t>
            </a:r>
            <a:r>
              <a:rPr lang="en-US" altLang="ko-KR" sz="2800" dirty="0" smtClean="0"/>
              <a:t>?</a:t>
            </a:r>
            <a:endParaRPr lang="ko-KR" altLang="en-US" sz="2800" dirty="0"/>
          </a:p>
        </p:txBody>
      </p:sp>
      <p:pic>
        <p:nvPicPr>
          <p:cNvPr id="1026" name="Picture 2" descr="http://blogs.nvidia.co.kr/wp-content/uploads/sites/16/2016/08/postfiles8.naver_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69597"/>
            <a:ext cx="6066890" cy="3836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39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66801"/>
            <a:ext cx="113538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 smtClean="0"/>
              <a:t>컴퓨터는                  좋은 기계이다</a:t>
            </a:r>
            <a:r>
              <a:rPr lang="en-US" altLang="ko-KR" sz="2400" dirty="0" smtClean="0"/>
              <a:t>.</a:t>
            </a:r>
          </a:p>
          <a:p>
            <a:pPr marL="0" indent="0">
              <a:buNone/>
            </a:pPr>
            <a:r>
              <a:rPr lang="en-US" altLang="ko-KR" sz="2400" dirty="0"/>
              <a:t>	</a:t>
            </a:r>
            <a:r>
              <a:rPr lang="en-US" altLang="ko-KR" sz="2400" dirty="0" smtClean="0"/>
              <a:t>Garbage in, garbage out !</a:t>
            </a:r>
          </a:p>
          <a:p>
            <a:pPr marL="0" indent="0">
              <a:buNone/>
            </a:pPr>
            <a:endParaRPr lang="en-US" altLang="ko-KR" sz="2400" dirty="0" smtClean="0"/>
          </a:p>
          <a:p>
            <a:pPr marL="0" indent="0">
              <a:buNone/>
            </a:pPr>
            <a:endParaRPr lang="en-US" altLang="ko-KR" sz="2400" dirty="0" smtClean="0"/>
          </a:p>
          <a:p>
            <a:pPr marL="0" indent="0">
              <a:buNone/>
            </a:pPr>
            <a:r>
              <a:rPr lang="ko-KR" altLang="en-US" sz="2400" dirty="0" smtClean="0"/>
              <a:t>인공지능은 만능이다</a:t>
            </a:r>
            <a:r>
              <a:rPr lang="en-US" altLang="ko-KR" sz="2400" dirty="0" smtClean="0"/>
              <a:t>?  </a:t>
            </a:r>
            <a:r>
              <a:rPr lang="ko-KR" altLang="en-US" sz="2400" dirty="0" smtClean="0"/>
              <a:t>아니다 </a:t>
            </a:r>
            <a:r>
              <a:rPr lang="en-US" altLang="ko-KR" sz="2400" dirty="0" smtClean="0"/>
              <a:t>!</a:t>
            </a:r>
          </a:p>
          <a:p>
            <a:pPr marL="0" indent="0">
              <a:buNone/>
            </a:pPr>
            <a:r>
              <a:rPr lang="en-US" altLang="ko-KR" sz="2400" dirty="0"/>
              <a:t>	</a:t>
            </a:r>
            <a:r>
              <a:rPr lang="ko-KR" altLang="en-US" sz="2400" dirty="0" smtClean="0"/>
              <a:t>좋은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데이터</a:t>
            </a:r>
            <a:r>
              <a:rPr lang="ko-KR" altLang="en-US" sz="2400" dirty="0" smtClean="0"/>
              <a:t>가 주어져야 한다</a:t>
            </a:r>
            <a:r>
              <a:rPr lang="en-US" altLang="ko-KR" sz="2400" dirty="0" smtClean="0"/>
              <a:t>. [</a:t>
            </a:r>
            <a:r>
              <a:rPr lang="ko-KR" altLang="en-US" sz="2400" dirty="0" err="1" smtClean="0"/>
              <a:t>딥러닝</a:t>
            </a:r>
            <a:r>
              <a:rPr lang="en-US" altLang="ko-KR" sz="2400" dirty="0" smtClean="0"/>
              <a:t>]</a:t>
            </a:r>
          </a:p>
          <a:p>
            <a:pPr marL="0" indent="0">
              <a:buNone/>
            </a:pPr>
            <a:r>
              <a:rPr lang="en-US" altLang="ko-KR" sz="2400" dirty="0"/>
              <a:t>	</a:t>
            </a:r>
            <a:r>
              <a:rPr lang="ko-KR" altLang="en-US" sz="2400" dirty="0" smtClean="0"/>
              <a:t>좋은 </a:t>
            </a:r>
            <a:r>
              <a:rPr lang="ko-KR" altLang="en-US" sz="2400" b="1" dirty="0" smtClean="0">
                <a:solidFill>
                  <a:srgbClr val="0066FF"/>
                </a:solidFill>
              </a:rPr>
              <a:t>과학지식</a:t>
            </a:r>
            <a:r>
              <a:rPr lang="ko-KR" altLang="en-US" sz="2400" dirty="0" smtClean="0"/>
              <a:t>이 필요하다</a:t>
            </a:r>
            <a:r>
              <a:rPr lang="en-US" altLang="ko-KR" sz="2400" dirty="0" smtClean="0"/>
              <a:t>. [</a:t>
            </a:r>
            <a:r>
              <a:rPr lang="ko-KR" altLang="en-US" sz="2400" dirty="0" err="1" smtClean="0"/>
              <a:t>강화학습</a:t>
            </a:r>
            <a:r>
              <a:rPr lang="en-US" altLang="ko-KR" sz="2400" dirty="0" smtClean="0"/>
              <a:t>]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인공지능</a:t>
            </a:r>
            <a:r>
              <a:rPr lang="en-US" altLang="ko-KR" sz="2800" dirty="0"/>
              <a:t> </a:t>
            </a:r>
            <a:r>
              <a:rPr lang="ko-KR" altLang="en-US" sz="2800" dirty="0" smtClean="0"/>
              <a:t>시대의 전문성</a:t>
            </a:r>
            <a:endParaRPr lang="ko-KR" altLang="en-US" sz="2800" dirty="0"/>
          </a:p>
        </p:txBody>
      </p:sp>
      <p:pic>
        <p:nvPicPr>
          <p:cNvPr id="4" name="Picture 2" descr="제니스앤컴퍼니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667000"/>
            <a:ext cx="4700264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066801"/>
            <a:ext cx="1861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잘 사용하면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3653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66801"/>
            <a:ext cx="11353800" cy="4724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2400" b="1" dirty="0" smtClean="0"/>
              <a:t>Mission #1: AI</a:t>
            </a:r>
            <a:r>
              <a:rPr lang="ko-KR" altLang="en-US" sz="2400" b="1" dirty="0" err="1" smtClean="0"/>
              <a:t>융합전공</a:t>
            </a:r>
            <a:r>
              <a:rPr lang="ko-KR" altLang="en-US" sz="2400" b="1" dirty="0" smtClean="0"/>
              <a:t> </a:t>
            </a:r>
            <a:r>
              <a:rPr lang="en-US" altLang="ko-KR" sz="2400" dirty="0" smtClean="0"/>
              <a:t>(including </a:t>
            </a:r>
            <a:r>
              <a:rPr lang="ko-KR" altLang="en-US" sz="2400" dirty="0" err="1" smtClean="0"/>
              <a:t>마이크로디그리</a:t>
            </a:r>
            <a:r>
              <a:rPr lang="en-US" altLang="ko-KR" sz="2400" dirty="0" smtClean="0"/>
              <a:t>)</a:t>
            </a:r>
          </a:p>
          <a:p>
            <a:pPr marL="0" indent="0">
              <a:buNone/>
            </a:pPr>
            <a:r>
              <a:rPr lang="ko-KR" altLang="en-US" sz="2400" dirty="0" smtClean="0"/>
              <a:t>인공지능과 빅데이터 분석기술을 공부합니다</a:t>
            </a:r>
            <a:r>
              <a:rPr lang="en-US" altLang="ko-KR" sz="2400" dirty="0" smtClean="0"/>
              <a:t>.</a:t>
            </a:r>
          </a:p>
          <a:p>
            <a:pPr marL="0" indent="0">
              <a:buNone/>
            </a:pPr>
            <a:r>
              <a:rPr lang="en-US" altLang="ko-KR" sz="2400" dirty="0" smtClean="0"/>
              <a:t>	</a:t>
            </a:r>
            <a:r>
              <a:rPr lang="ko-KR" altLang="en-US" sz="2400" dirty="0" smtClean="0"/>
              <a:t>전문분야</a:t>
            </a:r>
            <a:r>
              <a:rPr lang="en-US" altLang="ko-KR" sz="2400" dirty="0" smtClean="0"/>
              <a:t>(Domain knowledge)</a:t>
            </a:r>
            <a:r>
              <a:rPr lang="ko-KR" altLang="en-US" sz="2400" dirty="0" smtClean="0"/>
              <a:t>를 연계합니다</a:t>
            </a:r>
            <a:r>
              <a:rPr lang="en-US" altLang="ko-KR" sz="2400" dirty="0" smtClean="0"/>
              <a:t>.</a:t>
            </a:r>
          </a:p>
          <a:p>
            <a:pPr marL="0" indent="0">
              <a:buNone/>
            </a:pPr>
            <a:r>
              <a:rPr lang="en-US" altLang="ko-KR" sz="2400" dirty="0"/>
              <a:t>	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예</a:t>
            </a:r>
            <a:r>
              <a:rPr lang="en-US" altLang="ko-KR" sz="2400" dirty="0" smtClean="0"/>
              <a:t>) </a:t>
            </a:r>
            <a:r>
              <a:rPr lang="ko-KR" altLang="en-US" sz="2400" dirty="0" smtClean="0"/>
              <a:t>생명과학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경영 등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 smtClean="0"/>
          </a:p>
          <a:p>
            <a:pPr marL="0" indent="0">
              <a:buNone/>
            </a:pPr>
            <a:r>
              <a:rPr lang="en-US" altLang="ko-KR" sz="2400" b="1" dirty="0" smtClean="0"/>
              <a:t>Mission #2: </a:t>
            </a:r>
            <a:r>
              <a:rPr lang="ko-KR" altLang="en-US" sz="2400" b="1" dirty="0" err="1" smtClean="0"/>
              <a:t>마이크로디그리</a:t>
            </a:r>
            <a:r>
              <a:rPr lang="en-US" altLang="ko-KR" sz="2400" b="1" dirty="0" smtClean="0"/>
              <a:t>(MD) </a:t>
            </a:r>
            <a:r>
              <a:rPr lang="en-US" altLang="ko-KR" sz="2400" b="1" dirty="0" smtClean="0">
                <a:sym typeface="Wingdings" panose="05000000000000000000" pitchFamily="2" charset="2"/>
              </a:rPr>
              <a:t> </a:t>
            </a:r>
            <a:r>
              <a:rPr lang="ko-KR" altLang="en-US" sz="2400" b="1" dirty="0" smtClean="0">
                <a:sym typeface="Wingdings" panose="05000000000000000000" pitchFamily="2" charset="2"/>
              </a:rPr>
              <a:t>빅데이터 혁신공유대학 인증서</a:t>
            </a:r>
            <a:endParaRPr lang="en-US" altLang="ko-KR" sz="2400" b="1" dirty="0" smtClean="0"/>
          </a:p>
          <a:p>
            <a:pPr marL="0" indent="0">
              <a:buNone/>
            </a:pPr>
            <a:r>
              <a:rPr lang="ko-KR" altLang="en-US" sz="2400" dirty="0" smtClean="0"/>
              <a:t>전문분야 </a:t>
            </a:r>
            <a:r>
              <a:rPr lang="ko-KR" altLang="en-US" sz="2400" dirty="0" err="1" smtClean="0"/>
              <a:t>전공생들에게</a:t>
            </a:r>
            <a:r>
              <a:rPr lang="ko-KR" altLang="en-US" sz="2400" dirty="0"/>
              <a:t> 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인공지능 </a:t>
            </a:r>
            <a:r>
              <a:rPr lang="en-US" altLang="ko-KR" sz="2400" dirty="0" smtClean="0"/>
              <a:t>MD)</a:t>
            </a:r>
          </a:p>
          <a:p>
            <a:pPr marL="0" indent="0">
              <a:buNone/>
            </a:pPr>
            <a:r>
              <a:rPr lang="en-US" altLang="ko-KR" sz="2400" dirty="0"/>
              <a:t>	</a:t>
            </a:r>
            <a:r>
              <a:rPr lang="ko-KR" altLang="en-US" sz="2400" dirty="0" smtClean="0"/>
              <a:t>인공지능과 빅데이터 분석기술을 </a:t>
            </a:r>
            <a:r>
              <a:rPr lang="en-US" altLang="ko-KR" sz="2400" dirty="0" smtClean="0"/>
              <a:t>!</a:t>
            </a:r>
          </a:p>
          <a:p>
            <a:pPr marL="0" indent="0">
              <a:buNone/>
            </a:pPr>
            <a:r>
              <a:rPr lang="ko-KR" altLang="en-US" sz="2400" dirty="0" smtClean="0"/>
              <a:t>전산 </a:t>
            </a:r>
            <a:r>
              <a:rPr lang="ko-KR" altLang="en-US" sz="2400" dirty="0" err="1" smtClean="0"/>
              <a:t>전공생들에게는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인공지능융합 </a:t>
            </a:r>
            <a:r>
              <a:rPr lang="en-US" altLang="ko-KR" sz="2400" dirty="0" smtClean="0"/>
              <a:t>MD)</a:t>
            </a:r>
          </a:p>
          <a:p>
            <a:pPr marL="0" indent="0">
              <a:buNone/>
            </a:pPr>
            <a:r>
              <a:rPr lang="en-US" altLang="ko-KR" sz="2400" dirty="0"/>
              <a:t>	</a:t>
            </a:r>
            <a:r>
              <a:rPr lang="ko-KR" altLang="en-US" sz="2400" dirty="0" smtClean="0"/>
              <a:t>전문분야 인공지능 및 빅데이터 활용을 </a:t>
            </a:r>
            <a:r>
              <a:rPr lang="en-US" altLang="ko-KR" sz="2400" dirty="0" smtClean="0"/>
              <a:t>!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 err="1" smtClean="0"/>
              <a:t>한동대학교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‘</a:t>
            </a:r>
            <a:r>
              <a:rPr lang="ko-KR" altLang="en-US" sz="2400" dirty="0" err="1" smtClean="0"/>
              <a:t>데이터활용기초역량인증</a:t>
            </a:r>
            <a:r>
              <a:rPr lang="en-US" altLang="ko-KR" sz="2400" dirty="0" smtClean="0"/>
              <a:t>’ </a:t>
            </a:r>
            <a:r>
              <a:rPr lang="ko-KR" altLang="en-US" sz="2400" dirty="0" smtClean="0"/>
              <a:t>대체한 </a:t>
            </a:r>
            <a:endParaRPr lang="en-US" altLang="ko-KR" sz="2400" dirty="0" smtClean="0"/>
          </a:p>
          <a:p>
            <a:pPr marL="0" indent="0">
              <a:buNone/>
            </a:pPr>
            <a:r>
              <a:rPr lang="en-US" altLang="ko-KR" sz="2400" b="1" dirty="0" smtClean="0"/>
              <a:t>	</a:t>
            </a:r>
            <a:r>
              <a:rPr lang="ko-KR" altLang="en-US" sz="2400" b="1" dirty="0" smtClean="0"/>
              <a:t>서울대 주관 혁신공유대학 </a:t>
            </a:r>
            <a:r>
              <a:rPr lang="en-US" altLang="ko-KR" sz="2400" b="1" dirty="0" smtClean="0"/>
              <a:t>‘AI/</a:t>
            </a:r>
            <a:r>
              <a:rPr lang="ko-KR" altLang="en-US" sz="2400" b="1" dirty="0" smtClean="0"/>
              <a:t>빅데이터 </a:t>
            </a:r>
            <a:r>
              <a:rPr lang="ko-KR" altLang="en-US" sz="2400" b="1" dirty="0" err="1" smtClean="0"/>
              <a:t>마이크로디그리</a:t>
            </a:r>
            <a:r>
              <a:rPr lang="en-US" altLang="ko-KR" sz="2400" b="1" dirty="0" smtClean="0"/>
              <a:t>‘ </a:t>
            </a:r>
            <a:r>
              <a:rPr lang="ko-KR" altLang="en-US" sz="2400" b="1" dirty="0" smtClean="0"/>
              <a:t>인증 수여</a:t>
            </a:r>
            <a:endParaRPr lang="en-US" altLang="ko-KR" sz="2400" b="1" dirty="0" smtClean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AI</a:t>
            </a:r>
            <a:r>
              <a:rPr lang="ko-KR" altLang="en-US" sz="2800" dirty="0" smtClean="0"/>
              <a:t>융합교육원에서는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7406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내용 개체 틀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14343846"/>
                  </p:ext>
                </p:extLst>
              </p:nvPr>
            </p:nvGraphicFramePr>
            <p:xfrm>
              <a:off x="914400" y="2895600"/>
              <a:ext cx="9829800" cy="2667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5960">
                      <a:extLst>
                        <a:ext uri="{9D8B030D-6E8A-4147-A177-3AD203B41FA5}">
                          <a16:colId xmlns:a16="http://schemas.microsoft.com/office/drawing/2014/main" val="1178862358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135958523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514308824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4206426609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1542674547"/>
                        </a:ext>
                      </a:extLst>
                    </a:gridCol>
                  </a:tblGrid>
                  <a:tr h="4445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err="1" smtClean="0"/>
                            <a:t>전산전자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 smtClean="0"/>
                            <a:t>ICT</a:t>
                          </a:r>
                          <a:r>
                            <a:rPr lang="ko-KR" altLang="en-US" sz="2000" dirty="0" smtClean="0"/>
                            <a:t>창업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err="1" smtClean="0"/>
                            <a:t>전문전공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 smtClean="0"/>
                            <a:t>AI</a:t>
                          </a:r>
                          <a:r>
                            <a:rPr lang="ko-KR" altLang="en-US" sz="2000" dirty="0" smtClean="0"/>
                            <a:t>융합교육</a:t>
                          </a:r>
                          <a:endParaRPr lang="ko-KR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0809822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smtClean="0"/>
                            <a:t>인공지능 이론</a:t>
                          </a:r>
                          <a:endParaRPr lang="en-US" altLang="ko-KR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◎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229238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smtClean="0"/>
                            <a:t>빅데이터 이론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◎</a:t>
                          </a:r>
                          <a:endParaRPr lang="ko-KR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1268881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smtClean="0"/>
                            <a:t>프로그래밍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◎</a:t>
                          </a:r>
                          <a:endParaRPr lang="ko-KR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2000" i="1" smtClean="0">
                                    <a:latin typeface="Cambria Math" panose="02040503050406030204" pitchFamily="18" charset="0"/>
                                  </a:rPr>
                                  <m:t>△</m:t>
                                </m:r>
                              </m:oMath>
                            </m:oMathPara>
                          </a14:m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305498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 smtClean="0"/>
                            <a:t>AI </a:t>
                          </a:r>
                          <a:r>
                            <a:rPr lang="ko-KR" altLang="en-US" sz="2000" dirty="0" smtClean="0"/>
                            <a:t>활용기술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2000" i="1" smtClean="0">
                                    <a:latin typeface="Cambria Math" panose="02040503050406030204" pitchFamily="18" charset="0"/>
                                  </a:rPr>
                                  <m:t>△</m:t>
                                </m:r>
                              </m:oMath>
                            </m:oMathPara>
                          </a14:m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◎</a:t>
                          </a:r>
                          <a:endParaRPr lang="ko-KR" altLang="en-US" sz="200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4421418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smtClean="0"/>
                            <a:t>전문 전공지식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2000" i="1" smtClean="0">
                                    <a:latin typeface="Cambria Math" panose="02040503050406030204" pitchFamily="18" charset="0"/>
                                  </a:rPr>
                                  <m:t>△</m:t>
                                </m:r>
                              </m:oMath>
                            </m:oMathPara>
                          </a14:m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◎</a:t>
                          </a:r>
                          <a:endParaRPr lang="ko-KR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71996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내용 개체 틀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14343846"/>
                  </p:ext>
                </p:extLst>
              </p:nvPr>
            </p:nvGraphicFramePr>
            <p:xfrm>
              <a:off x="914400" y="2895600"/>
              <a:ext cx="9829800" cy="2667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5960">
                      <a:extLst>
                        <a:ext uri="{9D8B030D-6E8A-4147-A177-3AD203B41FA5}">
                          <a16:colId xmlns:a16="http://schemas.microsoft.com/office/drawing/2014/main" val="1178862358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135958523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514308824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4206426609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1542674547"/>
                        </a:ext>
                      </a:extLst>
                    </a:gridCol>
                  </a:tblGrid>
                  <a:tr h="4445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err="1" smtClean="0"/>
                            <a:t>전산전자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 smtClean="0"/>
                            <a:t>ICT</a:t>
                          </a:r>
                          <a:r>
                            <a:rPr lang="ko-KR" altLang="en-US" sz="2000" dirty="0" smtClean="0"/>
                            <a:t>창업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err="1" smtClean="0"/>
                            <a:t>전문전공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 smtClean="0"/>
                            <a:t>AI</a:t>
                          </a:r>
                          <a:r>
                            <a:rPr lang="ko-KR" altLang="en-US" sz="2000" dirty="0" smtClean="0"/>
                            <a:t>융합교육</a:t>
                          </a:r>
                          <a:endParaRPr lang="ko-KR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0809822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smtClean="0"/>
                            <a:t>인공지능 이론</a:t>
                          </a:r>
                          <a:endParaRPr lang="en-US" altLang="ko-KR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◎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1242" t="-109589" r="-101553" b="-413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229238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smtClean="0"/>
                            <a:t>빅데이터 이론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◎</a:t>
                          </a:r>
                          <a:endParaRPr lang="ko-KR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1242" t="-209589" r="-101553" b="-313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1268881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smtClean="0"/>
                            <a:t>프로그래밍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◎</a:t>
                          </a:r>
                          <a:endParaRPr lang="ko-KR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1242" t="-309589" r="-101553" b="-213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305498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 smtClean="0"/>
                            <a:t>AI </a:t>
                          </a:r>
                          <a:r>
                            <a:rPr lang="ko-KR" altLang="en-US" sz="2000" dirty="0" smtClean="0"/>
                            <a:t>활용기술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1242" t="-409589" r="-101553" b="-113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◎</a:t>
                          </a:r>
                          <a:endParaRPr lang="ko-KR" altLang="en-US" sz="200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4421418"/>
                      </a:ext>
                    </a:extLst>
                  </a:tr>
                  <a:tr h="4445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dirty="0" smtClean="0"/>
                            <a:t>전문 전공지식</a:t>
                          </a:r>
                          <a:endParaRPr lang="ko-KR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932" t="-509589" r="-301863" b="-13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310" t="-509589" r="-200929" b="-13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◎</a:t>
                          </a:r>
                          <a:endParaRPr lang="ko-KR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85763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 smtClean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⃝</a:t>
                          </a:r>
                          <a:endParaRPr lang="ko-KR" altLang="en-US" sz="3200" b="0" i="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71996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AI</a:t>
            </a:r>
            <a:r>
              <a:rPr lang="ko-KR" altLang="en-US" sz="2800" dirty="0" smtClean="0"/>
              <a:t>융합교육원은 어떻게 다른가</a:t>
            </a:r>
            <a:endParaRPr lang="ko-KR" altLang="en-US" sz="2800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457200" y="1066801"/>
            <a:ext cx="11353800" cy="47244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8576" indent="-38576" algn="l" defTabSz="385763" rtl="0" eaLnBrk="1" latinLnBrk="1" hangingPunct="1">
              <a:lnSpc>
                <a:spcPct val="100000"/>
              </a:lnSpc>
              <a:spcBef>
                <a:spcPts val="506"/>
              </a:spcBef>
              <a:spcAft>
                <a:spcPts val="85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162020" indent="-77153" algn="l" defTabSz="385763" rtl="0" eaLnBrk="1" latinLnBrk="1" hangingPunct="1">
              <a:lnSpc>
                <a:spcPct val="100000"/>
              </a:lnSpc>
              <a:spcBef>
                <a:spcPts val="85"/>
              </a:spcBef>
              <a:spcAft>
                <a:spcPts val="169"/>
              </a:spcAft>
              <a:buClrTx/>
              <a:buFont typeface="Wingdings" panose="05000000000000000000" pitchFamily="2" charset="2"/>
              <a:buChar char="l"/>
              <a:defRPr sz="165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481013" indent="-214313" algn="l" defTabSz="385763" rtl="0" eaLnBrk="1" latinLnBrk="1" hangingPunct="1">
              <a:lnSpc>
                <a:spcPct val="100000"/>
              </a:lnSpc>
              <a:spcBef>
                <a:spcPts val="85"/>
              </a:spcBef>
              <a:spcAft>
                <a:spcPts val="169"/>
              </a:spcAft>
              <a:buClr>
                <a:schemeClr val="tx1"/>
              </a:buClr>
              <a:buFont typeface="Arial Unicode MS" panose="020B0604020202020204" pitchFamily="50" charset="-127"/>
              <a:buChar char="-"/>
              <a:defRPr sz="15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676275" indent="-213122" algn="l" defTabSz="385763" rtl="0" eaLnBrk="1" latinLnBrk="1" hangingPunct="1">
              <a:lnSpc>
                <a:spcPct val="100000"/>
              </a:lnSpc>
              <a:spcBef>
                <a:spcPts val="85"/>
              </a:spcBef>
              <a:spcAft>
                <a:spcPts val="169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393478" indent="-77153" algn="l" defTabSz="385763" rtl="0" eaLnBrk="1" latinLnBrk="1" hangingPunct="1">
              <a:lnSpc>
                <a:spcPct val="90000"/>
              </a:lnSpc>
              <a:spcBef>
                <a:spcPts val="85"/>
              </a:spcBef>
              <a:spcAft>
                <a:spcPts val="169"/>
              </a:spcAft>
              <a:buClr>
                <a:schemeClr val="accent1"/>
              </a:buClr>
              <a:buFont typeface="Calibri" pitchFamily="34" charset="0"/>
              <a:buChar char="◦"/>
              <a:defRPr sz="1125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464063" indent="-96441" algn="l" defTabSz="385763" rtl="0" eaLnBrk="1" latinLnBrk="1" hangingPunct="1">
              <a:lnSpc>
                <a:spcPct val="90000"/>
              </a:lnSpc>
              <a:spcBef>
                <a:spcPts val="85"/>
              </a:spcBef>
              <a:spcAft>
                <a:spcPts val="169"/>
              </a:spcAft>
              <a:buClr>
                <a:schemeClr val="accent1"/>
              </a:buClr>
              <a:buFont typeface="Calibri" pitchFamily="34" charset="0"/>
              <a:buChar char="◦"/>
              <a:defRPr sz="59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8438" indent="-96441" algn="l" defTabSz="385763" rtl="0" eaLnBrk="1" latinLnBrk="1" hangingPunct="1">
              <a:lnSpc>
                <a:spcPct val="90000"/>
              </a:lnSpc>
              <a:spcBef>
                <a:spcPts val="85"/>
              </a:spcBef>
              <a:spcAft>
                <a:spcPts val="169"/>
              </a:spcAft>
              <a:buClr>
                <a:schemeClr val="accent1"/>
              </a:buClr>
              <a:buFont typeface="Calibri" pitchFamily="34" charset="0"/>
              <a:buChar char="◦"/>
              <a:defRPr sz="59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632813" indent="-96441" algn="l" defTabSz="385763" rtl="0" eaLnBrk="1" latinLnBrk="1" hangingPunct="1">
              <a:lnSpc>
                <a:spcPct val="90000"/>
              </a:lnSpc>
              <a:spcBef>
                <a:spcPts val="85"/>
              </a:spcBef>
              <a:spcAft>
                <a:spcPts val="169"/>
              </a:spcAft>
              <a:buClr>
                <a:schemeClr val="accent1"/>
              </a:buClr>
              <a:buFont typeface="Calibri" pitchFamily="34" charset="0"/>
              <a:buChar char="◦"/>
              <a:defRPr sz="59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717188" indent="-96441" algn="l" defTabSz="385763" rtl="0" eaLnBrk="1" latinLnBrk="1" hangingPunct="1">
              <a:lnSpc>
                <a:spcPct val="90000"/>
              </a:lnSpc>
              <a:spcBef>
                <a:spcPts val="85"/>
              </a:spcBef>
              <a:spcAft>
                <a:spcPts val="169"/>
              </a:spcAft>
              <a:buClr>
                <a:schemeClr val="accent1"/>
              </a:buClr>
              <a:buFont typeface="Calibri" pitchFamily="34" charset="0"/>
              <a:buChar char="◦"/>
              <a:defRPr sz="59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altLang="ko-KR" sz="2400" b="1" dirty="0" smtClean="0"/>
              <a:t>Closer to Domain Knowledge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altLang="ko-KR" sz="2400" dirty="0" smtClean="0"/>
              <a:t>Lower Barrier to AI &amp; BD Applications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altLang="ko-KR" sz="2400" i="1" dirty="0" smtClean="0"/>
              <a:t>	Not just a AI project programmer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738170" y="2856214"/>
            <a:ext cx="2057400" cy="2788578"/>
          </a:xfrm>
          <a:prstGeom prst="rect">
            <a:avLst/>
          </a:prstGeom>
          <a:noFill/>
          <a:ln w="28575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838200" y="4627652"/>
            <a:ext cx="6019800" cy="9760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886581" y="555299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인증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6858000" y="5115674"/>
            <a:ext cx="2286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296400" y="2248140"/>
            <a:ext cx="955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solidFill>
                  <a:srgbClr val="0066FF"/>
                </a:solidFill>
              </a:rPr>
              <a:t>2</a:t>
            </a:r>
            <a:r>
              <a:rPr lang="ko-KR" altLang="en-US" sz="2400" b="1" dirty="0" smtClean="0">
                <a:solidFill>
                  <a:srgbClr val="0066FF"/>
                </a:solidFill>
              </a:rPr>
              <a:t>전공</a:t>
            </a:r>
            <a:endParaRPr lang="ko-KR" altLang="en-US" sz="2400" b="1" dirty="0">
              <a:solidFill>
                <a:srgbClr val="0066FF"/>
              </a:solidFill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8286690" y="4250502"/>
            <a:ext cx="991455" cy="1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88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경영</a:t>
            </a:r>
            <a:r>
              <a:rPr lang="en-US" altLang="ko-KR" sz="2800" dirty="0" smtClean="0"/>
              <a:t>-AI</a:t>
            </a:r>
            <a:r>
              <a:rPr lang="ko-KR" altLang="en-US" sz="2800" dirty="0" smtClean="0"/>
              <a:t>융합 대표 사례</a:t>
            </a:r>
            <a:endParaRPr lang="ko-KR" altLang="en-US" sz="28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1433457"/>
            <a:ext cx="1940691" cy="2613125"/>
          </a:xfrm>
          <a:prstGeom prst="rect">
            <a:avLst/>
          </a:prstGeom>
        </p:spPr>
      </p:pic>
      <p:pic>
        <p:nvPicPr>
          <p:cNvPr id="1025" name="_x920356808" descr="EMB00005b784b1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" b="25815"/>
          <a:stretch>
            <a:fillRect/>
          </a:stretch>
        </p:blipFill>
        <p:spPr bwMode="auto">
          <a:xfrm>
            <a:off x="6325406" y="1745678"/>
            <a:ext cx="3052098" cy="204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47F722D-3E7C-4DCF-B17B-E1D0BB6C576D}"/>
              </a:ext>
            </a:extLst>
          </p:cNvPr>
          <p:cNvSpPr/>
          <p:nvPr/>
        </p:nvSpPr>
        <p:spPr>
          <a:xfrm>
            <a:off x="2783580" y="4518072"/>
            <a:ext cx="319987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0066FF"/>
                </a:solidFill>
                <a:latin typeface="맑은 고딕" pitchFamily="50" charset="-127"/>
                <a:ea typeface="맑은 고딕" pitchFamily="50" charset="-127"/>
              </a:rPr>
              <a:t>마케팅</a:t>
            </a:r>
            <a: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Salesforce.com AI</a:t>
            </a:r>
            <a:r>
              <a:rPr lang="ko-KR" altLang="en-US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기반 </a:t>
            </a:r>
            <a: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CRM</a:t>
            </a:r>
            <a:b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46" y="1371600"/>
            <a:ext cx="2346465" cy="304907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7F722D-3E7C-4DCF-B17B-E1D0BB6C576D}"/>
              </a:ext>
            </a:extLst>
          </p:cNvPr>
          <p:cNvSpPr/>
          <p:nvPr/>
        </p:nvSpPr>
        <p:spPr>
          <a:xfrm>
            <a:off x="90497" y="4525788"/>
            <a:ext cx="25260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0066FF"/>
                </a:solidFill>
                <a:latin typeface="맑은 고딕" pitchFamily="50" charset="-127"/>
                <a:ea typeface="맑은 고딕" pitchFamily="50" charset="-127"/>
              </a:rPr>
              <a:t>경영일반</a:t>
            </a:r>
            <a:r>
              <a:rPr lang="en-US" altLang="ko-KR" sz="1400" b="1" dirty="0" smtClean="0">
                <a:solidFill>
                  <a:srgbClr val="0066FF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400" b="1" dirty="0" smtClean="0">
                <a:solidFill>
                  <a:srgbClr val="0066FF"/>
                </a:solidFill>
                <a:latin typeface="맑은 고딕" pitchFamily="50" charset="-127"/>
                <a:ea typeface="맑은 고딕" pitchFamily="50" charset="-127"/>
              </a:rPr>
              <a:t>재무</a:t>
            </a:r>
            <a:r>
              <a:rPr lang="en-US" altLang="ko-KR" sz="1400" b="1" dirty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400" b="1" dirty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삼성전자 </a:t>
            </a:r>
            <a: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AI </a:t>
            </a:r>
            <a:r>
              <a:rPr lang="ko-KR" altLang="en-US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매출 예측</a:t>
            </a:r>
            <a:endParaRPr lang="en-US" altLang="ko-KR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30" name="Picture 6" descr="Junghoon Blog: 세일즈포스 아인슈타인이 들려주는 '기업 직장인이 20분만에 AI 만들어 이용하는 이야기'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958" r="12552" b="1866"/>
          <a:stretch/>
        </p:blipFill>
        <p:spPr bwMode="auto">
          <a:xfrm>
            <a:off x="2894624" y="1675084"/>
            <a:ext cx="2977781" cy="218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47F722D-3E7C-4DCF-B17B-E1D0BB6C576D}"/>
              </a:ext>
            </a:extLst>
          </p:cNvPr>
          <p:cNvSpPr/>
          <p:nvPr/>
        </p:nvSpPr>
        <p:spPr>
          <a:xfrm>
            <a:off x="6177633" y="4518072"/>
            <a:ext cx="319987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0066FF"/>
                </a:solidFill>
                <a:latin typeface="맑은 고딕" pitchFamily="50" charset="-127"/>
                <a:ea typeface="맑은 고딕" pitchFamily="50" charset="-127"/>
              </a:rPr>
              <a:t>생산관리</a:t>
            </a:r>
            <a: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SK</a:t>
            </a:r>
            <a:r>
              <a:rPr lang="ko-KR" altLang="en-US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텔레콤 공정관리 </a:t>
            </a:r>
            <a: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AI</a:t>
            </a:r>
            <a:r>
              <a:rPr lang="ko-KR" altLang="en-US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비전</a:t>
            </a:r>
            <a: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7F722D-3E7C-4DCF-B17B-E1D0BB6C576D}"/>
              </a:ext>
            </a:extLst>
          </p:cNvPr>
          <p:cNvSpPr/>
          <p:nvPr/>
        </p:nvSpPr>
        <p:spPr>
          <a:xfrm>
            <a:off x="9120449" y="4518072"/>
            <a:ext cx="319987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0066FF"/>
                </a:solidFill>
                <a:latin typeface="맑은 고딕" pitchFamily="50" charset="-127"/>
                <a:ea typeface="맑은 고딕" pitchFamily="50" charset="-127"/>
              </a:rPr>
              <a:t>금융</a:t>
            </a:r>
            <a: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KEB </a:t>
            </a:r>
            <a:r>
              <a:rPr lang="ko-KR" altLang="en-US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하나은행 </a:t>
            </a:r>
            <a:r>
              <a:rPr lang="ko-KR" altLang="en-US" sz="1400" b="1" dirty="0" err="1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금융봇</a:t>
            </a:r>
            <a: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400" b="1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덧셈 기호 9"/>
          <p:cNvSpPr/>
          <p:nvPr/>
        </p:nvSpPr>
        <p:spPr>
          <a:xfrm>
            <a:off x="5872405" y="5105400"/>
            <a:ext cx="640332" cy="640332"/>
          </a:xfrm>
          <a:prstGeom prst="mathPlu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114800" y="5791200"/>
            <a:ext cx="4160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i="1" dirty="0" smtClean="0">
                <a:solidFill>
                  <a:srgbClr val="000099"/>
                </a:solidFill>
                <a:latin typeface="맑은 고딕" pitchFamily="50" charset="-127"/>
              </a:rPr>
              <a:t>모든 경영 현장</a:t>
            </a:r>
            <a:r>
              <a:rPr lang="en-US" altLang="ko-KR" b="1" i="1" dirty="0" smtClean="0">
                <a:solidFill>
                  <a:srgbClr val="000099"/>
                </a:solidFill>
                <a:latin typeface="맑은 고딕" pitchFamily="50" charset="-127"/>
              </a:rPr>
              <a:t>/</a:t>
            </a:r>
            <a:r>
              <a:rPr lang="ko-KR" altLang="en-US" b="1" i="1" dirty="0" smtClean="0">
                <a:solidFill>
                  <a:srgbClr val="000099"/>
                </a:solidFill>
                <a:latin typeface="맑은 고딕" pitchFamily="50" charset="-127"/>
              </a:rPr>
              <a:t>분야에 </a:t>
            </a:r>
            <a:r>
              <a:rPr lang="en-US" altLang="ko-KR" b="1" i="1" dirty="0" smtClean="0">
                <a:solidFill>
                  <a:srgbClr val="000099"/>
                </a:solidFill>
                <a:latin typeface="맑은 고딕" pitchFamily="50" charset="-127"/>
              </a:rPr>
              <a:t>AI</a:t>
            </a:r>
            <a:r>
              <a:rPr lang="ko-KR" altLang="en-US" b="1" i="1" dirty="0" smtClean="0">
                <a:solidFill>
                  <a:srgbClr val="000099"/>
                </a:solidFill>
                <a:latin typeface="맑은 고딕" pitchFamily="50" charset="-127"/>
              </a:rPr>
              <a:t>융합 가속화</a:t>
            </a:r>
            <a:endParaRPr lang="ko-KR" altLang="en-US" i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81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66801"/>
            <a:ext cx="113538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 smtClean="0"/>
              <a:t>주요 </a:t>
            </a:r>
            <a:r>
              <a:rPr lang="en-US" altLang="ko-KR" sz="2400" b="1" dirty="0" smtClean="0"/>
              <a:t>AI/</a:t>
            </a:r>
            <a:r>
              <a:rPr lang="ko-KR" altLang="en-US" sz="2400" b="1" dirty="0" smtClean="0"/>
              <a:t>빅데이터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활용사례</a:t>
            </a:r>
            <a:endParaRPr lang="en-US" altLang="ko-KR" sz="2400" b="1" dirty="0" smtClean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생명</a:t>
            </a:r>
            <a:r>
              <a:rPr lang="en-US" altLang="ko-KR" sz="2800" dirty="0" smtClean="0"/>
              <a:t>-AI</a:t>
            </a:r>
            <a:r>
              <a:rPr lang="ko-KR" altLang="en-US" sz="2800" dirty="0" smtClean="0"/>
              <a:t>융합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1477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66800"/>
            <a:ext cx="11353800" cy="5410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sz="2600" b="1" dirty="0" smtClean="0"/>
              <a:t>최소 이수 조건</a:t>
            </a:r>
            <a:r>
              <a:rPr lang="en-US" altLang="ko-KR" sz="2600" b="1" dirty="0" smtClean="0"/>
              <a:t>: AI</a:t>
            </a:r>
            <a:r>
              <a:rPr lang="ko-KR" altLang="en-US" sz="2600" b="1" dirty="0" smtClean="0"/>
              <a:t> 관련 교과목 </a:t>
            </a:r>
            <a:r>
              <a:rPr lang="en-US" altLang="ko-KR" sz="2600" b="1" dirty="0" smtClean="0"/>
              <a:t>24</a:t>
            </a:r>
            <a:r>
              <a:rPr lang="ko-KR" altLang="en-US" sz="2600" b="1" dirty="0" smtClean="0"/>
              <a:t>학점 </a:t>
            </a:r>
            <a:r>
              <a:rPr lang="en-US" altLang="ko-KR" sz="2600" b="1" dirty="0" smtClean="0"/>
              <a:t>+ 1</a:t>
            </a:r>
            <a:r>
              <a:rPr lang="ko-KR" altLang="en-US" sz="2600" b="1" dirty="0" smtClean="0"/>
              <a:t>전공 교과목 </a:t>
            </a:r>
            <a:r>
              <a:rPr lang="en-US" altLang="ko-KR" sz="2600" b="1" dirty="0" smtClean="0"/>
              <a:t>9</a:t>
            </a:r>
            <a:r>
              <a:rPr lang="ko-KR" altLang="en-US" sz="2600" b="1" dirty="0" smtClean="0"/>
              <a:t>학점</a:t>
            </a:r>
            <a:endParaRPr lang="en-US" altLang="ko-KR" sz="2600" b="1" dirty="0" smtClean="0"/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endParaRPr lang="en-US" altLang="ko-KR" sz="2400" b="1" dirty="0" smtClean="0"/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endParaRPr lang="en-US" altLang="ko-KR" sz="2400" b="1" dirty="0" smtClean="0"/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endParaRPr lang="en-US" altLang="ko-KR" sz="2400" b="1" dirty="0" smtClean="0"/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endParaRPr lang="en-US" altLang="ko-KR" sz="2400" b="1" dirty="0" smtClean="0"/>
          </a:p>
          <a:p>
            <a:pPr marL="0" indent="0">
              <a:buNone/>
            </a:pPr>
            <a:endParaRPr lang="en-US" altLang="ko-KR" sz="2400" b="1" dirty="0" smtClean="0"/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endParaRPr lang="en-US" altLang="ko-KR" sz="2200" dirty="0" smtClean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 smtClean="0"/>
              <a:t>1</a:t>
            </a:r>
            <a:r>
              <a:rPr lang="ko-KR" altLang="en-US" sz="2200" dirty="0" smtClean="0"/>
              <a:t>학년 또는 전공초년차에 </a:t>
            </a:r>
            <a:r>
              <a:rPr lang="ko-KR" altLang="en-US" sz="2200" dirty="0" err="1" smtClean="0"/>
              <a:t>파이썬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통계학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선형대수학</a:t>
            </a:r>
            <a:r>
              <a:rPr lang="en-US" altLang="ko-KR" sz="2200" dirty="0" smtClean="0"/>
              <a:t>, Calculus2, C </a:t>
            </a:r>
            <a:r>
              <a:rPr lang="ko-KR" altLang="en-US" sz="2200" dirty="0" smtClean="0"/>
              <a:t>등을 공부하면 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 smtClean="0"/>
              <a:t>AI</a:t>
            </a:r>
            <a:r>
              <a:rPr lang="ko-KR" altLang="en-US" sz="2200" dirty="0" err="1" smtClean="0"/>
              <a:t>융합교육원</a:t>
            </a:r>
            <a:r>
              <a:rPr lang="ko-KR" altLang="en-US" sz="2200" dirty="0" smtClean="0"/>
              <a:t> </a:t>
            </a:r>
            <a:r>
              <a:rPr lang="ko-KR" altLang="en-US" sz="2200" dirty="0" err="1" smtClean="0"/>
              <a:t>전과정</a:t>
            </a:r>
            <a:r>
              <a:rPr lang="ko-KR" altLang="en-US" sz="2200" dirty="0" smtClean="0"/>
              <a:t> 공부에 큰 도움이 됩니다</a:t>
            </a:r>
            <a:r>
              <a:rPr lang="en-US" altLang="ko-KR" sz="2200" dirty="0" smtClean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AI</a:t>
            </a:r>
            <a:r>
              <a:rPr lang="ko-KR" altLang="en-US" sz="2800" dirty="0" err="1" smtClean="0"/>
              <a:t>융합교육원</a:t>
            </a:r>
            <a:r>
              <a:rPr lang="ko-KR" altLang="en-US" sz="2800" dirty="0" smtClean="0"/>
              <a:t> 교과과정</a:t>
            </a:r>
            <a:endParaRPr lang="ko-KR" altLang="en-US" sz="28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226550"/>
              </p:ext>
            </p:extLst>
          </p:nvPr>
        </p:nvGraphicFramePr>
        <p:xfrm>
          <a:off x="609601" y="1600200"/>
          <a:ext cx="1082040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599">
                  <a:extLst>
                    <a:ext uri="{9D8B030D-6E8A-4147-A177-3AD203B41FA5}">
                      <a16:colId xmlns:a16="http://schemas.microsoft.com/office/drawing/2014/main" val="378829315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64576707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031154201"/>
                    </a:ext>
                  </a:extLst>
                </a:gridCol>
                <a:gridCol w="1927860">
                  <a:extLst>
                    <a:ext uri="{9D8B030D-6E8A-4147-A177-3AD203B41FA5}">
                      <a16:colId xmlns:a16="http://schemas.microsoft.com/office/drawing/2014/main" val="864816768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3944124536"/>
                    </a:ext>
                  </a:extLst>
                </a:gridCol>
                <a:gridCol w="1905001">
                  <a:extLst>
                    <a:ext uri="{9D8B030D-6E8A-4147-A177-3AD203B41FA5}">
                      <a16:colId xmlns:a16="http://schemas.microsoft.com/office/drawing/2014/main" val="2725758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AI</a:t>
                      </a:r>
                      <a:r>
                        <a:rPr lang="ko-KR" altLang="en-US" sz="2000" dirty="0" smtClean="0"/>
                        <a:t>융합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 smtClean="0"/>
                        <a:t>전산전자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 smtClean="0"/>
                        <a:t>ICT</a:t>
                      </a:r>
                      <a:r>
                        <a:rPr lang="ko-KR" altLang="en-US" sz="2000" dirty="0" smtClean="0"/>
                        <a:t>창업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GLS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 smtClean="0"/>
                        <a:t>창의융합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91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/>
                        <a:t>수학 교과목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smtClean="0"/>
                        <a:t>(Calculus2)</a:t>
                      </a:r>
                      <a:r>
                        <a:rPr lang="en-US" altLang="ko-KR" sz="1600" b="1" baseline="0" dirty="0" smtClean="0"/>
                        <a:t> (</a:t>
                      </a:r>
                      <a:r>
                        <a:rPr lang="ko-KR" altLang="en-US" sz="1600" b="1" dirty="0" smtClean="0"/>
                        <a:t>선형대수학</a:t>
                      </a:r>
                      <a:r>
                        <a:rPr lang="en-US" altLang="ko-KR" sz="1600" b="1" dirty="0" smtClean="0"/>
                        <a:t>)</a:t>
                      </a:r>
                    </a:p>
                    <a:p>
                      <a:pPr latinLnBrk="1"/>
                      <a:r>
                        <a:rPr lang="ko-KR" altLang="en-US" sz="1600" b="1" dirty="0" smtClean="0"/>
                        <a:t>통계학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192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SW </a:t>
                      </a:r>
                      <a:r>
                        <a:rPr lang="ko-KR" altLang="en-US" sz="2000" dirty="0" smtClean="0"/>
                        <a:t>교과목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파이썬으로배우는데이터구조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</a:t>
                      </a:r>
                      <a:r>
                        <a:rPr lang="ko-KR" altLang="en-US" sz="1600" dirty="0" smtClean="0"/>
                        <a:t>프로그래밍</a:t>
                      </a:r>
                      <a:endParaRPr lang="en-US" altLang="ko-KR" sz="1600" baseline="0" dirty="0" smtClean="0"/>
                    </a:p>
                    <a:p>
                      <a:pPr marL="0" marR="0" lvl="0" indent="0" algn="l" defTabSz="38576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aseline="0" dirty="0" smtClean="0"/>
                        <a:t>이산수학</a:t>
                      </a:r>
                      <a:endParaRPr lang="en-US" altLang="ko-KR" sz="1600" baseline="0" dirty="0" smtClean="0"/>
                    </a:p>
                    <a:p>
                      <a:pPr latinLnBrk="1"/>
                      <a:r>
                        <a:rPr lang="ko-KR" altLang="en-US" sz="1600" baseline="0" dirty="0" err="1" smtClean="0"/>
                        <a:t>데이터구조</a:t>
                      </a:r>
                      <a:endParaRPr lang="en-US" altLang="ko-KR" sz="1600" baseline="0" dirty="0" smtClean="0"/>
                    </a:p>
                    <a:p>
                      <a:pPr marL="0" marR="0" lvl="0" indent="0" algn="l" defTabSz="38576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aseline="0" dirty="0" smtClean="0"/>
                        <a:t>데이터베이스</a:t>
                      </a:r>
                      <a:endParaRPr lang="en-US" altLang="ko-KR" sz="1600" baseline="0" dirty="0" smtClean="0"/>
                    </a:p>
                    <a:p>
                      <a:pPr latinLnBrk="1"/>
                      <a:r>
                        <a:rPr lang="ko-KR" altLang="en-US" sz="1600" baseline="0" dirty="0" err="1" smtClean="0"/>
                        <a:t>컴퓨터비전</a:t>
                      </a:r>
                      <a:endParaRPr lang="en-US" altLang="ko-KR" sz="1600" baseline="0" dirty="0" smtClean="0"/>
                    </a:p>
                    <a:p>
                      <a:pPr latinLnBrk="1"/>
                      <a:r>
                        <a:rPr lang="en-US" altLang="ko-KR" sz="1600" dirty="0" smtClean="0"/>
                        <a:t>AI</a:t>
                      </a:r>
                      <a:r>
                        <a:rPr lang="ko-KR" altLang="en-US" sz="1600" dirty="0" smtClean="0"/>
                        <a:t>프로젝트입문</a:t>
                      </a:r>
                      <a:endParaRPr lang="en-US" altLang="ko-KR" sz="1600" baseline="0" dirty="0" smtClean="0"/>
                    </a:p>
                    <a:p>
                      <a:pPr latinLnBrk="1"/>
                      <a:r>
                        <a:rPr lang="ko-KR" altLang="en-US" sz="1600" baseline="0" dirty="0" err="1" smtClean="0"/>
                        <a:t>머신러닝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8576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/>
                        <a:t>(</a:t>
                      </a:r>
                      <a:r>
                        <a:rPr lang="ko-KR" altLang="en-US" sz="1600" b="1" dirty="0" err="1" smtClean="0"/>
                        <a:t>파이썬프로그래밍</a:t>
                      </a:r>
                      <a:r>
                        <a:rPr lang="en-US" altLang="ko-KR" sz="1600" b="1" dirty="0" smtClean="0"/>
                        <a:t>)</a:t>
                      </a:r>
                    </a:p>
                    <a:p>
                      <a:pPr latinLnBrk="1"/>
                      <a:r>
                        <a:rPr lang="en-US" altLang="ko-KR" sz="1600" b="1" dirty="0" smtClean="0"/>
                        <a:t>C</a:t>
                      </a:r>
                      <a:r>
                        <a:rPr lang="ko-KR" altLang="en-US" sz="1600" b="1" dirty="0" smtClean="0"/>
                        <a:t>프로그래밍</a:t>
                      </a:r>
                      <a:r>
                        <a:rPr lang="en-US" altLang="ko-KR" sz="1600" b="1" dirty="0" smtClean="0"/>
                        <a:t> </a:t>
                      </a:r>
                    </a:p>
                    <a:p>
                      <a:pPr latinLnBrk="1"/>
                      <a:r>
                        <a:rPr lang="ko-KR" altLang="en-US" sz="1600" dirty="0" err="1" smtClean="0"/>
                        <a:t>모두를위한인공지능</a:t>
                      </a:r>
                      <a:endParaRPr lang="en-US" altLang="ko-KR" sz="1600" dirty="0" smtClean="0"/>
                    </a:p>
                    <a:p>
                      <a:pPr latinLnBrk="1"/>
                      <a:r>
                        <a:rPr lang="ko-KR" altLang="en-US" sz="1600" dirty="0" err="1" smtClean="0"/>
                        <a:t>데이터수집과응응</a:t>
                      </a:r>
                      <a:endParaRPr lang="en-US" altLang="ko-KR" sz="1600" dirty="0" smtClean="0"/>
                    </a:p>
                    <a:p>
                      <a:pPr marL="0" marR="0" lvl="0" indent="0" algn="l" defTabSz="38576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을이용한빅데이터분석</a:t>
                      </a:r>
                      <a:endParaRPr lang="en-US" altLang="ko-KR" sz="1600" dirty="0" smtClean="0"/>
                    </a:p>
                    <a:p>
                      <a:pPr latinLnBrk="1"/>
                      <a:r>
                        <a:rPr lang="en-US" altLang="ko-KR" sz="16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AI</a:t>
                      </a:r>
                      <a:r>
                        <a:rPr lang="ko-KR" altLang="en-US" sz="160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데이터활용</a:t>
                      </a:r>
                      <a:endParaRPr lang="en-US" altLang="ko-KR" sz="16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6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AI</a:t>
                      </a:r>
                      <a:r>
                        <a:rPr lang="ko-KR" altLang="en-US" sz="16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입문</a:t>
                      </a:r>
                      <a:endParaRPr lang="en-US" altLang="ko-KR" sz="16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8576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통계적방법론</a:t>
                      </a:r>
                      <a:endParaRPr lang="en-US" altLang="ko-KR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38576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확률론</a:t>
                      </a:r>
                      <a:endParaRPr lang="en-US" altLang="ko-KR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38576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회귀분석</a:t>
                      </a:r>
                      <a:endParaRPr lang="en-US" altLang="ko-KR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38576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다변량자료분석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785193"/>
                  </a:ext>
                </a:extLst>
              </a:tr>
              <a:tr h="28956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1</a:t>
                      </a:r>
                      <a:r>
                        <a:rPr lang="ko-KR" altLang="en-US" sz="2000" dirty="0" smtClean="0"/>
                        <a:t>전공</a:t>
                      </a:r>
                      <a:r>
                        <a:rPr lang="ko-KR" altLang="en-US" sz="2000" baseline="0" dirty="0" smtClean="0"/>
                        <a:t> 교과목</a:t>
                      </a:r>
                      <a:endParaRPr lang="ko-KR" altLang="en-US" sz="2000" dirty="0"/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생물정보학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err="1" smtClean="0"/>
                        <a:t>바이오데이터분석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시스템생물학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응용유전체학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합성생물학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생명과학캡스톤</a:t>
                      </a:r>
                      <a:endParaRPr lang="en-US" altLang="ko-KR" sz="160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410206"/>
                  </a:ext>
                </a:extLst>
              </a:tr>
              <a:tr h="289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38576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 smtClean="0"/>
                        <a:t>비즈니스애널리틱스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전자상거래와 데이터주도마케팅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경영전산캡스톤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87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70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66800"/>
            <a:ext cx="11353800" cy="5029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 smtClean="0"/>
              <a:t>Full benefits of </a:t>
            </a:r>
            <a:r>
              <a:rPr lang="ko-KR" altLang="en-US" sz="2400" b="1" dirty="0" smtClean="0"/>
              <a:t>빅데이터혁신공유대학 </a:t>
            </a:r>
            <a:r>
              <a:rPr lang="en-US" altLang="ko-KR" sz="2400" b="1" dirty="0" smtClean="0"/>
              <a:t>during</a:t>
            </a:r>
            <a:r>
              <a:rPr lang="ko-KR" altLang="en-US" sz="2400" b="1" dirty="0" smtClean="0"/>
              <a:t> </a:t>
            </a:r>
            <a:r>
              <a:rPr lang="en-US" altLang="ko-KR" sz="2400" b="1" dirty="0"/>
              <a:t>s</a:t>
            </a:r>
            <a:r>
              <a:rPr lang="en-US" altLang="ko-KR" sz="2400" b="1" dirty="0" smtClean="0"/>
              <a:t>tudy !</a:t>
            </a:r>
          </a:p>
          <a:p>
            <a:pPr marL="0" indent="0">
              <a:buNone/>
            </a:pPr>
            <a:r>
              <a:rPr lang="en-US" altLang="ko-KR" sz="2400" dirty="0"/>
              <a:t>	</a:t>
            </a:r>
            <a:r>
              <a:rPr lang="ko-KR" altLang="en-US" sz="2400" dirty="0" smtClean="0"/>
              <a:t>컴퓨터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마이크로디그리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교과</a:t>
            </a:r>
            <a:r>
              <a:rPr lang="en-US" altLang="ko-KR" sz="2400" dirty="0" smtClean="0"/>
              <a:t>/</a:t>
            </a:r>
            <a:r>
              <a:rPr lang="ko-KR" altLang="en-US" sz="2400" dirty="0" err="1" smtClean="0"/>
              <a:t>비교과</a:t>
            </a:r>
            <a:r>
              <a:rPr lang="ko-KR" altLang="en-US" sz="2400" dirty="0" smtClean="0"/>
              <a:t> 연합프로그램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취업 </a:t>
            </a:r>
            <a:r>
              <a:rPr lang="ko-KR" altLang="en-US" sz="2400" dirty="0" err="1" smtClean="0"/>
              <a:t>인턴기회</a:t>
            </a:r>
            <a:r>
              <a:rPr lang="en-US" altLang="ko-KR" sz="2400" dirty="0"/>
              <a:t> </a:t>
            </a:r>
            <a:r>
              <a:rPr lang="ko-KR" altLang="en-US" sz="2400" dirty="0" smtClean="0"/>
              <a:t>등</a:t>
            </a:r>
            <a:endParaRPr lang="en-US" altLang="ko-KR" sz="2400" dirty="0" smtClean="0"/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 smtClean="0"/>
              <a:t>AI</a:t>
            </a:r>
            <a:r>
              <a:rPr lang="ko-KR" altLang="en-US" sz="2400" b="1" dirty="0" err="1" smtClean="0"/>
              <a:t>융합전공</a:t>
            </a:r>
            <a:r>
              <a:rPr lang="ko-KR" altLang="en-US" sz="2400" b="1" dirty="0" smtClean="0"/>
              <a:t> 이수자</a:t>
            </a:r>
            <a:endParaRPr lang="en-US" altLang="ko-KR" sz="2400" b="1" dirty="0" smtClean="0"/>
          </a:p>
          <a:p>
            <a:pPr marL="0" indent="0">
              <a:buNone/>
            </a:pPr>
            <a:r>
              <a:rPr lang="en-US" altLang="ko-KR" sz="2400" dirty="0" smtClean="0"/>
              <a:t>	1</a:t>
            </a:r>
            <a:r>
              <a:rPr lang="ko-KR" altLang="en-US" sz="2400" dirty="0" smtClean="0"/>
              <a:t>전공분야에서 </a:t>
            </a:r>
            <a:r>
              <a:rPr lang="en-US" altLang="ko-KR" sz="2400" dirty="0" smtClean="0"/>
              <a:t>AI </a:t>
            </a:r>
            <a:r>
              <a:rPr lang="ko-KR" altLang="en-US" sz="2400" dirty="0" smtClean="0"/>
              <a:t>및 빅데이터 프로젝트 수행 전문가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 smtClean="0"/>
              <a:t>	1</a:t>
            </a:r>
            <a:r>
              <a:rPr lang="ko-KR" altLang="en-US" sz="2400" dirty="0" smtClean="0"/>
              <a:t>전공과 </a:t>
            </a:r>
            <a:r>
              <a:rPr lang="en-US" altLang="ko-KR" sz="2400" dirty="0" smtClean="0"/>
              <a:t>AI/</a:t>
            </a:r>
            <a:r>
              <a:rPr lang="ko-KR" altLang="en-US" sz="2400" dirty="0" smtClean="0"/>
              <a:t>빅데이터를 동시에 이해하는 창업자</a:t>
            </a:r>
            <a:endParaRPr lang="en-US" altLang="ko-KR" sz="2400" dirty="0" smtClean="0"/>
          </a:p>
          <a:p>
            <a:pPr marL="0" indent="0">
              <a:buNone/>
            </a:pPr>
            <a:r>
              <a:rPr lang="en-US" altLang="ko-KR" sz="2400" dirty="0" smtClean="0"/>
              <a:t>	</a:t>
            </a:r>
            <a:r>
              <a:rPr lang="ko-KR" altLang="en-US" sz="2400" dirty="0" smtClean="0"/>
              <a:t>다양한 전공분야에 대한 </a:t>
            </a:r>
            <a:r>
              <a:rPr lang="en-US" altLang="ko-KR" sz="2400" dirty="0" smtClean="0"/>
              <a:t>AI </a:t>
            </a:r>
            <a:r>
              <a:rPr lang="ko-KR" altLang="en-US" sz="2400" dirty="0" smtClean="0"/>
              <a:t>및 빅데이터 활용 전문가</a:t>
            </a:r>
            <a:endParaRPr lang="en-US" altLang="ko-KR" sz="2400" dirty="0" smtClean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b="1" dirty="0" err="1" smtClean="0"/>
              <a:t>마이크로디그리</a:t>
            </a:r>
            <a:r>
              <a:rPr lang="ko-KR" altLang="en-US" sz="2400" b="1" dirty="0" smtClean="0"/>
              <a:t> 수여자</a:t>
            </a:r>
            <a:endParaRPr lang="en-US" altLang="ko-KR" sz="2400" b="1" dirty="0" smtClean="0"/>
          </a:p>
          <a:p>
            <a:pPr marL="0" indent="0">
              <a:buNone/>
            </a:pPr>
            <a:r>
              <a:rPr lang="en-US" altLang="ko-KR" sz="2400" b="1" dirty="0"/>
              <a:t>	</a:t>
            </a:r>
            <a:r>
              <a:rPr lang="ko-KR" altLang="en-US" sz="2400" dirty="0" smtClean="0"/>
              <a:t>인공지능 </a:t>
            </a:r>
            <a:r>
              <a:rPr lang="en-US" altLang="ko-KR" sz="2400" dirty="0" smtClean="0"/>
              <a:t>MD: </a:t>
            </a:r>
            <a:r>
              <a:rPr lang="ko-KR" altLang="en-US" sz="2400" dirty="0" smtClean="0"/>
              <a:t>전공분야에서 </a:t>
            </a:r>
            <a:r>
              <a:rPr lang="en-US" altLang="ko-KR" sz="2400" dirty="0" smtClean="0"/>
              <a:t>AI </a:t>
            </a:r>
            <a:r>
              <a:rPr lang="ko-KR" altLang="en-US" sz="2400" dirty="0" smtClean="0"/>
              <a:t>및 빅데이터 기술 활용 전문가</a:t>
            </a:r>
            <a:endParaRPr lang="en-US" altLang="ko-KR" sz="2400" dirty="0" smtClean="0"/>
          </a:p>
          <a:p>
            <a:pPr marL="0" indent="0">
              <a:buNone/>
            </a:pPr>
            <a:r>
              <a:rPr lang="en-US" altLang="ko-KR" sz="2400" dirty="0"/>
              <a:t>	</a:t>
            </a:r>
            <a:r>
              <a:rPr lang="ko-KR" altLang="en-US" sz="2400" dirty="0" smtClean="0"/>
              <a:t>인공지능융합 </a:t>
            </a:r>
            <a:r>
              <a:rPr lang="en-US" altLang="ko-KR" sz="2400" dirty="0" smtClean="0"/>
              <a:t>MD: </a:t>
            </a:r>
            <a:r>
              <a:rPr lang="ko-KR" altLang="en-US" sz="2400" dirty="0" smtClean="0"/>
              <a:t>실제 현장데이터를 다룬 경험 있는 전산 전문가</a:t>
            </a:r>
            <a:endParaRPr lang="en-US" altLang="ko-KR" sz="2400" dirty="0" smtClean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AI</a:t>
            </a:r>
            <a:r>
              <a:rPr lang="ko-KR" altLang="en-US" sz="2800" dirty="0" err="1" smtClean="0"/>
              <a:t>융합교육원</a:t>
            </a:r>
            <a:r>
              <a:rPr lang="ko-KR" altLang="en-US" sz="2800" dirty="0" smtClean="0"/>
              <a:t> 졸업생 진로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26408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71F1C6-521E-4846-8BE7-EC9F8546A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52400"/>
            <a:ext cx="12546821" cy="7010400"/>
          </a:xfrm>
          <a:prstGeom prst="rect">
            <a:avLst/>
          </a:prstGeom>
        </p:spPr>
      </p:pic>
      <p:sp>
        <p:nvSpPr>
          <p:cNvPr id="5" name="제목 10"/>
          <p:cNvSpPr txBox="1">
            <a:spLocks/>
          </p:cNvSpPr>
          <p:nvPr/>
        </p:nvSpPr>
        <p:spPr>
          <a:xfrm>
            <a:off x="6181301" y="584042"/>
            <a:ext cx="5985870" cy="1905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b="1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 on the shoulders of the giants.</a:t>
            </a:r>
          </a:p>
          <a:p>
            <a:endParaRPr lang="en-US" altLang="ko-KR" sz="24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Welcome to AI+X !</a:t>
            </a:r>
          </a:p>
          <a:p>
            <a:endParaRPr lang="en-US" altLang="ko-KR" sz="2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look much farther with us.</a:t>
            </a:r>
            <a:endParaRPr lang="en-US" altLang="ko-KR" sz="36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77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gitalLogicPPT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gitalLogicPPT" id="{F3008E7D-203C-49B8-9510-3B2C3725568D}" vid="{8E184423-52C1-4E27-A5F9-3A8071D8272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1966</TotalTime>
  <Words>577</Words>
  <Application>Microsoft Office PowerPoint</Application>
  <PresentationFormat>와이드스크린</PresentationFormat>
  <Paragraphs>157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Arial Unicode MS</vt:lpstr>
      <vt:lpstr>맑은 고딕</vt:lpstr>
      <vt:lpstr>Arial</vt:lpstr>
      <vt:lpstr>Arial Black</vt:lpstr>
      <vt:lpstr>Calibri</vt:lpstr>
      <vt:lpstr>Calibri Light</vt:lpstr>
      <vt:lpstr>Cambria Math</vt:lpstr>
      <vt:lpstr>Wingdings</vt:lpstr>
      <vt:lpstr>DigitalLogicPPT</vt:lpstr>
      <vt:lpstr>  AI융합교육원   학부 소개</vt:lpstr>
      <vt:lpstr>AI가 가져올 2040년의 모습은?</vt:lpstr>
      <vt:lpstr>인공지능(AI)는 무엇인가?</vt:lpstr>
      <vt:lpstr>인공지능 시대의 전문성</vt:lpstr>
      <vt:lpstr>AI융합교육원에서는</vt:lpstr>
      <vt:lpstr>AI융합교육원은 어떻게 다른가</vt:lpstr>
      <vt:lpstr>경영-AI융합 대표 사례</vt:lpstr>
      <vt:lpstr>생명-AI융합</vt:lpstr>
      <vt:lpstr>AI융합교육원 교과과정</vt:lpstr>
      <vt:lpstr>AI융합교육원 졸업생 진로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Power Window Logic 개발</dc:title>
  <dc:creator>shema</dc:creator>
  <cp:lastModifiedBy>user</cp:lastModifiedBy>
  <cp:revision>282</cp:revision>
  <cp:lastPrinted>2016-10-05T07:56:07Z</cp:lastPrinted>
  <dcterms:created xsi:type="dcterms:W3CDTF">2016-10-04T06:49:01Z</dcterms:created>
  <dcterms:modified xsi:type="dcterms:W3CDTF">2021-05-04T06:45:59Z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2014-05-20T00:00:00Z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2016-10-04T00:00:00Z</vt:filetime>
  </property>
</Properties>
</file>